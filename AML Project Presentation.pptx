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5"/>
  </p:notesMasterIdLst>
  <p:sldIdLst>
    <p:sldId id="256" r:id="rId2"/>
    <p:sldId id="257" r:id="rId3"/>
    <p:sldId id="262" r:id="rId4"/>
    <p:sldId id="260" r:id="rId5"/>
    <p:sldId id="263" r:id="rId6"/>
    <p:sldId id="259" r:id="rId7"/>
    <p:sldId id="269" r:id="rId8"/>
    <p:sldId id="261" r:id="rId9"/>
    <p:sldId id="270" r:id="rId10"/>
    <p:sldId id="266" r:id="rId11"/>
    <p:sldId id="267" r:id="rId12"/>
    <p:sldId id="26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0"/>
    <p:restoredTop sz="94704"/>
  </p:normalViewPr>
  <p:slideViewPr>
    <p:cSldViewPr snapToGrid="0">
      <p:cViewPr varScale="1">
        <p:scale>
          <a:sx n="105" d="100"/>
          <a:sy n="105" d="100"/>
        </p:scale>
        <p:origin x="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F94A9-3B06-F24F-A414-5DDEB7AA615C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50486-74F2-F049-A4B7-4D5E1261A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3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31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4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69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74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4DB1-3ACD-B113-2B1A-54E03A00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96D5E-B1BE-FEAB-66A5-02A41A3E6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26A76-9521-5BA5-C38B-CA5F0440F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9E081-407F-F283-8D9B-640C9B6FF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65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50486-74F2-F049-A4B7-4D5E1261A3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75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3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14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5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1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62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7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3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2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8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2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383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bi.gov/investigate/white-collar-crime/health-care-frau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186/s40537-019-0225-0" TargetMode="External"/><Relationship Id="rId2" Type="http://schemas.openxmlformats.org/officeDocument/2006/relationships/hyperlink" Target="https://ieeexplore.ieee.org/abstract/document/8260744/authors#author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abstract/document/10223204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ohitrox/healthcare-provider-fraud-detection-analysi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abstract/document/8260744/authors#author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bi.gov/investigate/white-collar-crime/health-care-fraud" TargetMode="External"/><Relationship Id="rId2" Type="http://schemas.openxmlformats.org/officeDocument/2006/relationships/hyperlink" Target="https://doi.org/10.1109/ICMLA.2017.00-4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09/ACCESS.2023.3305962" TargetMode="External"/><Relationship Id="rId4" Type="http://schemas.openxmlformats.org/officeDocument/2006/relationships/hyperlink" Target="https://doi.org/10.1186/s40537-019-0225-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345D54-B42B-17B9-40D0-F91DA5CAD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US" dirty="0"/>
              <a:t>healthcare provider fraud</a:t>
            </a:r>
            <a:br>
              <a:rPr lang="en-US" dirty="0"/>
            </a:br>
            <a:r>
              <a:rPr lang="en-US" dirty="0"/>
              <a:t>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85F96-F3FB-CC15-2CC7-60882F30C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100" y="5105706"/>
            <a:ext cx="4857857" cy="1005657"/>
          </a:xfrm>
        </p:spPr>
        <p:txBody>
          <a:bodyPr>
            <a:normAutofit/>
          </a:bodyPr>
          <a:lstStyle/>
          <a:p>
            <a:r>
              <a:rPr lang="en-US" dirty="0"/>
              <a:t>Liz Meyer</a:t>
            </a:r>
          </a:p>
          <a:p>
            <a:r>
              <a:rPr lang="en-US" dirty="0"/>
              <a:t>COSC 6330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purple and white sky&#10;&#10;AI-generated content may be incorrect.">
            <a:extLst>
              <a:ext uri="{FF2B5EF4-FFF2-40B4-BE49-F238E27FC236}">
                <a16:creationId xmlns:a16="http://schemas.microsoft.com/office/drawing/2014/main" id="{FC0E5B4E-E186-5335-7CF5-5CAC2A4DBA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98" r="12924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81223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3E714-294C-946D-780F-C6FDC619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0F908-D6E1-9037-C957-E7209D81B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Health care fraud is the act of intentionally submitting fraudulent claims to health insurers to receive illegal benefits or payments (</a:t>
            </a:r>
            <a:r>
              <a:rPr lang="en-US" dirty="0">
                <a:hlinkClick r:id="rId3"/>
              </a:rPr>
              <a:t>FBI, 2026</a:t>
            </a:r>
            <a:r>
              <a:rPr lang="en-US" dirty="0"/>
              <a:t>)</a:t>
            </a:r>
          </a:p>
          <a:p>
            <a:r>
              <a:rPr lang="en-US" dirty="0"/>
              <a:t>Health care fraud costs the U.S. health care system $100 billion to $170 billion in losses each year and can lead to:</a:t>
            </a:r>
          </a:p>
          <a:p>
            <a:pPr lvl="1"/>
            <a:r>
              <a:rPr lang="en-US" dirty="0"/>
              <a:t>Increased insurance premiums</a:t>
            </a:r>
          </a:p>
          <a:p>
            <a:pPr lvl="1"/>
            <a:r>
              <a:rPr lang="en-US" dirty="0"/>
              <a:t>Higher taxes</a:t>
            </a:r>
          </a:p>
          <a:p>
            <a:pPr lvl="1"/>
            <a:r>
              <a:rPr lang="en-US" dirty="0"/>
              <a:t>Patient harm</a:t>
            </a:r>
          </a:p>
          <a:p>
            <a:pPr lvl="1"/>
            <a:r>
              <a:rPr lang="en-US" dirty="0"/>
              <a:t>Legal penalties for providers</a:t>
            </a:r>
          </a:p>
          <a:p>
            <a:r>
              <a:rPr lang="en-US" b="1" dirty="0"/>
              <a:t>Medicare provider fraud </a:t>
            </a:r>
            <a:r>
              <a:rPr lang="en-US" dirty="0"/>
              <a:t>is a specific type of health care fraud where health care providers submit false claims to the Medicare program for reimbursement</a:t>
            </a:r>
          </a:p>
          <a:p>
            <a:pPr lvl="1"/>
            <a:r>
              <a:rPr lang="en-US" dirty="0"/>
              <a:t>Double billing (submitting multiple claims for the same service)</a:t>
            </a:r>
          </a:p>
          <a:p>
            <a:pPr lvl="1"/>
            <a:r>
              <a:rPr lang="en-US" dirty="0"/>
              <a:t>Phantom billing (submitting a claim for a service that never happened)</a:t>
            </a:r>
          </a:p>
          <a:p>
            <a:pPr lvl="1"/>
            <a:r>
              <a:rPr lang="en-US" dirty="0"/>
              <a:t>Upcoding (submitting a claim for a more expensive or complex service than the patient received)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67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D1794-12E6-E92D-2263-F765BE04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 Medicare fraud detection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72494-2228-74B5-0621-7D8830C2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Bauder &amp; </a:t>
            </a:r>
            <a:r>
              <a:rPr lang="en-US" dirty="0" err="1">
                <a:hlinkClick r:id="rId2"/>
              </a:rPr>
              <a:t>Khoshgoftaar</a:t>
            </a:r>
            <a:r>
              <a:rPr lang="en-US" dirty="0">
                <a:hlinkClick r:id="rId2"/>
              </a:rPr>
              <a:t> (2017) </a:t>
            </a:r>
            <a:r>
              <a:rPr lang="en-US" dirty="0"/>
              <a:t>compared supervised, unsupervised, and hybrid ML approaches</a:t>
            </a:r>
          </a:p>
          <a:p>
            <a:pPr lvl="1"/>
            <a:r>
              <a:rPr lang="en-US" b="1" dirty="0"/>
              <a:t>Takeaway</a:t>
            </a:r>
            <a:r>
              <a:rPr lang="en-US" dirty="0"/>
              <a:t>: Supervised methods outperformed unsupervised and hybrid methods</a:t>
            </a:r>
          </a:p>
          <a:p>
            <a:r>
              <a:rPr lang="en-US" dirty="0">
                <a:hlinkClick r:id="rId3"/>
              </a:rPr>
              <a:t>Johnson &amp; </a:t>
            </a:r>
            <a:r>
              <a:rPr lang="en-US" dirty="0" err="1">
                <a:hlinkClick r:id="rId3"/>
              </a:rPr>
              <a:t>Khoshgoftaar</a:t>
            </a:r>
            <a:r>
              <a:rPr lang="en-US" dirty="0">
                <a:hlinkClick r:id="rId3"/>
              </a:rPr>
              <a:t> (2019) </a:t>
            </a:r>
            <a:r>
              <a:rPr lang="en-US" dirty="0"/>
              <a:t>used different deep learning approaches to address the extreme class imbalance present in Medicare fraud prediction tasks</a:t>
            </a:r>
          </a:p>
          <a:p>
            <a:pPr lvl="1"/>
            <a:r>
              <a:rPr lang="en-US" b="1" dirty="0"/>
              <a:t>Takeaway</a:t>
            </a:r>
            <a:r>
              <a:rPr lang="en-US" dirty="0"/>
              <a:t>: Oversampling techniques improved deep learning performance under severe class imbalance</a:t>
            </a:r>
          </a:p>
          <a:p>
            <a:r>
              <a:rPr lang="en-US" dirty="0">
                <a:hlinkClick r:id="rId4"/>
              </a:rPr>
              <a:t>Yoo et al. (2023) </a:t>
            </a:r>
            <a:r>
              <a:rPr lang="en-US" dirty="0"/>
              <a:t>explored graph-based neural networks and evaluated relationships between insurance providers, patients, and physicians</a:t>
            </a:r>
          </a:p>
          <a:p>
            <a:pPr lvl="1"/>
            <a:r>
              <a:rPr lang="en-US" b="1" dirty="0"/>
              <a:t>Takeaway</a:t>
            </a:r>
            <a:r>
              <a:rPr lang="en-US" dirty="0"/>
              <a:t>: Graph-based features enhanced fraud detection performance, with traditional ML using graph centrality outperforming graph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911367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DF3F2-6931-5DF2-61E1-31A75ED05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A0041-9F03-5FB8-5354-9B527D29F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19865"/>
            <a:ext cx="10356053" cy="4505433"/>
          </a:xfrm>
        </p:spPr>
        <p:txBody>
          <a:bodyPr>
            <a:normAutofit fontScale="25000" lnSpcReduction="20000"/>
          </a:bodyPr>
          <a:lstStyle/>
          <a:p>
            <a:r>
              <a:rPr lang="en-US" sz="6000" b="1" dirty="0">
                <a:hlinkClick r:id="rId3"/>
              </a:rPr>
              <a:t>Healthcare Provider Fraud Detection Analysis (2019)</a:t>
            </a:r>
            <a:r>
              <a:rPr lang="en-US" sz="6000" b="1" dirty="0"/>
              <a:t> </a:t>
            </a:r>
            <a:r>
              <a:rPr lang="en-US" sz="6000" dirty="0"/>
              <a:t>dataset from Kaggle</a:t>
            </a:r>
          </a:p>
          <a:p>
            <a:r>
              <a:rPr lang="en-US" sz="6000" dirty="0"/>
              <a:t>Four main datasets</a:t>
            </a:r>
          </a:p>
          <a:p>
            <a:pPr marL="457200" indent="-457200">
              <a:buAutoNum type="arabicPeriod"/>
            </a:pPr>
            <a:r>
              <a:rPr lang="en-US" sz="6000" b="1" dirty="0"/>
              <a:t>Inpatient</a:t>
            </a:r>
          </a:p>
          <a:p>
            <a:pPr lvl="1"/>
            <a:r>
              <a:rPr lang="en-US" sz="6000" dirty="0"/>
              <a:t>Claim data for patients who received services while admitted into a hospital</a:t>
            </a:r>
          </a:p>
          <a:p>
            <a:pPr lvl="2"/>
            <a:r>
              <a:rPr lang="en-US" sz="6000" dirty="0"/>
              <a:t>Diagnosis/procedure codes, reimbursement amounts ($), claim duration, admission and discharge dates</a:t>
            </a:r>
          </a:p>
          <a:p>
            <a:pPr marL="457200" indent="-457200">
              <a:buAutoNum type="arabicPeriod"/>
            </a:pPr>
            <a:r>
              <a:rPr lang="en-US" sz="6000" b="1" dirty="0"/>
              <a:t>Outpatient</a:t>
            </a:r>
          </a:p>
          <a:p>
            <a:pPr lvl="1"/>
            <a:r>
              <a:rPr lang="en-US" sz="6000" dirty="0"/>
              <a:t>Claim data for patients who visited the hospital to receive a service but were not admitted</a:t>
            </a:r>
          </a:p>
          <a:p>
            <a:pPr lvl="2"/>
            <a:r>
              <a:rPr lang="en-US" sz="6000" dirty="0"/>
              <a:t>Similar to inpatient data</a:t>
            </a:r>
          </a:p>
          <a:p>
            <a:pPr marL="457200" indent="-457200">
              <a:buAutoNum type="arabicPeriod"/>
            </a:pPr>
            <a:r>
              <a:rPr lang="en-US" sz="6000" b="1" dirty="0"/>
              <a:t>Beneficiary</a:t>
            </a:r>
          </a:p>
          <a:p>
            <a:pPr lvl="1"/>
            <a:r>
              <a:rPr lang="en-US" sz="6000" dirty="0"/>
              <a:t>Patient information</a:t>
            </a:r>
          </a:p>
          <a:p>
            <a:pPr lvl="2"/>
            <a:r>
              <a:rPr lang="en-US" sz="6000" dirty="0"/>
              <a:t>Race, gender, age, state, diagnosis/condition codes</a:t>
            </a:r>
          </a:p>
          <a:p>
            <a:pPr marL="457200" indent="-457200">
              <a:buAutoNum type="arabicPeriod"/>
            </a:pPr>
            <a:r>
              <a:rPr lang="en-US" sz="6000" b="1" dirty="0"/>
              <a:t>Providers</a:t>
            </a:r>
          </a:p>
          <a:p>
            <a:pPr lvl="1"/>
            <a:r>
              <a:rPr lang="en-US" sz="6000" dirty="0"/>
              <a:t>Provider IDs with label of Fraudulent vs Not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19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6CDD-74FC-44E9-9470-E4E188D98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6715E-DA46-8DD6-1E28-5AB075660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</a:t>
            </a:r>
          </a:p>
          <a:p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r>
              <a:rPr lang="en-US" dirty="0"/>
              <a:t>Kaggle</a:t>
            </a:r>
          </a:p>
          <a:p>
            <a:r>
              <a:rPr lang="en-US" dirty="0"/>
              <a:t>Libraries</a:t>
            </a:r>
          </a:p>
          <a:p>
            <a:pPr lvl="1"/>
            <a:r>
              <a:rPr lang="en-US" dirty="0"/>
              <a:t>Pandas</a:t>
            </a:r>
          </a:p>
          <a:p>
            <a:pPr lvl="1"/>
            <a:r>
              <a:rPr lang="en-US" dirty="0" err="1"/>
              <a:t>Numpy</a:t>
            </a:r>
            <a:endParaRPr lang="en-US" dirty="0"/>
          </a:p>
          <a:p>
            <a:pPr lvl="1"/>
            <a:r>
              <a:rPr lang="en-US" dirty="0"/>
              <a:t>Scikit-learn</a:t>
            </a:r>
          </a:p>
          <a:p>
            <a:pPr lvl="1"/>
            <a:r>
              <a:rPr lang="en-US" dirty="0" err="1"/>
              <a:t>XGBoost</a:t>
            </a:r>
            <a:endParaRPr lang="en-US" dirty="0"/>
          </a:p>
          <a:p>
            <a:pPr lvl="1"/>
            <a:r>
              <a:rPr lang="en-US" dirty="0"/>
              <a:t>Matplotlib/seaborn</a:t>
            </a:r>
          </a:p>
        </p:txBody>
      </p:sp>
      <p:pic>
        <p:nvPicPr>
          <p:cNvPr id="5122" name="Picture 2" descr="Python (programming language) - Wikipedia">
            <a:extLst>
              <a:ext uri="{FF2B5EF4-FFF2-40B4-BE49-F238E27FC236}">
                <a16:creationId xmlns:a16="http://schemas.microsoft.com/office/drawing/2014/main" id="{13E5E7EB-60FA-358A-9811-EA67D1DC6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730" y="1569003"/>
            <a:ext cx="3652221" cy="365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2307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2978-41A1-4682-37C1-332171EB7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962CA-A8AB-22BE-2325-1499CA11E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56516"/>
            <a:ext cx="3871365" cy="386984"/>
          </a:xfrm>
        </p:spPr>
        <p:txBody>
          <a:bodyPr>
            <a:normAutofit fontScale="25000" lnSpcReduction="20000"/>
          </a:bodyPr>
          <a:lstStyle/>
          <a:p>
            <a:pPr lvl="1"/>
            <a:r>
              <a:rPr lang="en-US" sz="8800" dirty="0"/>
              <a:t>Datasets at a Glance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198529-0353-47F3-7D25-69BFE6A05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801407"/>
              </p:ext>
            </p:extLst>
          </p:nvPr>
        </p:nvGraphicFramePr>
        <p:xfrm>
          <a:off x="425041" y="2466363"/>
          <a:ext cx="5301843" cy="238247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020667">
                  <a:extLst>
                    <a:ext uri="{9D8B030D-6E8A-4147-A177-3AD203B41FA5}">
                      <a16:colId xmlns:a16="http://schemas.microsoft.com/office/drawing/2014/main" val="3586590613"/>
                    </a:ext>
                  </a:extLst>
                </a:gridCol>
                <a:gridCol w="2281176">
                  <a:extLst>
                    <a:ext uri="{9D8B030D-6E8A-4147-A177-3AD203B41FA5}">
                      <a16:colId xmlns:a16="http://schemas.microsoft.com/office/drawing/2014/main" val="4007269522"/>
                    </a:ext>
                  </a:extLst>
                </a:gridCol>
              </a:tblGrid>
              <a:tr h="43847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680217"/>
                  </a:ext>
                </a:extLst>
              </a:tr>
              <a:tr h="4860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5,410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340320"/>
                  </a:ext>
                </a:extLst>
              </a:tr>
              <a:tr h="4860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Beneficiaries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138,556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335809"/>
                  </a:ext>
                </a:extLst>
              </a:tr>
              <a:tr h="4860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558,211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039125"/>
                  </a:ext>
                </a:extLst>
              </a:tr>
              <a:tr h="4860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Providers w/ Fraud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09701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4A75864-DAC0-755F-310C-721D1FA62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267" y="2050008"/>
            <a:ext cx="5676876" cy="33443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39E368-6BA7-E1A8-36F8-0820D4F6C5B9}"/>
              </a:ext>
            </a:extLst>
          </p:cNvPr>
          <p:cNvSpPr txBox="1"/>
          <p:nvPr/>
        </p:nvSpPr>
        <p:spPr>
          <a:xfrm>
            <a:off x="932574" y="5071700"/>
            <a:ext cx="4286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9.35% of providers in the dataset are labeled as fraudulent --&gt; class imbalance</a:t>
            </a:r>
          </a:p>
        </p:txBody>
      </p:sp>
    </p:spTree>
    <p:extLst>
      <p:ext uri="{BB962C8B-B14F-4D97-AF65-F5344CB8AC3E}">
        <p14:creationId xmlns:p14="http://schemas.microsoft.com/office/powerpoint/2010/main" val="131149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BE57A-290D-33C2-CA0D-332F8B9E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6AD5-E1CA-A4B0-065A-9BD3E7351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04D3B4-8A7C-9F30-94FE-6A0A52EA3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563693"/>
              </p:ext>
            </p:extLst>
          </p:nvPr>
        </p:nvGraphicFramePr>
        <p:xfrm>
          <a:off x="419450" y="2418653"/>
          <a:ext cx="5780015" cy="1666786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245185">
                  <a:extLst>
                    <a:ext uri="{9D8B030D-6E8A-4147-A177-3AD203B41FA5}">
                      <a16:colId xmlns:a16="http://schemas.microsoft.com/office/drawing/2014/main" val="242161705"/>
                    </a:ext>
                  </a:extLst>
                </a:gridCol>
                <a:gridCol w="1341394">
                  <a:extLst>
                    <a:ext uri="{9D8B030D-6E8A-4147-A177-3AD203B41FA5}">
                      <a16:colId xmlns:a16="http://schemas.microsoft.com/office/drawing/2014/main" val="2677359860"/>
                    </a:ext>
                  </a:extLst>
                </a:gridCol>
                <a:gridCol w="1796809">
                  <a:extLst>
                    <a:ext uri="{9D8B030D-6E8A-4147-A177-3AD203B41FA5}">
                      <a16:colId xmlns:a16="http://schemas.microsoft.com/office/drawing/2014/main" val="170662474"/>
                    </a:ext>
                  </a:extLst>
                </a:gridCol>
                <a:gridCol w="1396627">
                  <a:extLst>
                    <a:ext uri="{9D8B030D-6E8A-4147-A177-3AD203B41FA5}">
                      <a16:colId xmlns:a16="http://schemas.microsoft.com/office/drawing/2014/main" val="2987395636"/>
                    </a:ext>
                  </a:extLst>
                </a:gridCol>
              </a:tblGrid>
              <a:tr h="7721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Claim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Avg. Reimbursement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Avg. Claim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105991"/>
                  </a:ext>
                </a:extLst>
              </a:tr>
              <a:tr h="4473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40,474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$10,087.88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5.66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57653"/>
                  </a:ext>
                </a:extLst>
              </a:tr>
              <a:tr h="4473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517,737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$286.33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1.42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36498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60B0C45-5FA4-45F9-E8A2-F3952BA54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890" y="2119718"/>
            <a:ext cx="5458571" cy="30196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2F1A77-EE7E-6383-B2C7-6D9607704BD1}"/>
              </a:ext>
            </a:extLst>
          </p:cNvPr>
          <p:cNvSpPr txBox="1"/>
          <p:nvPr/>
        </p:nvSpPr>
        <p:spPr>
          <a:xfrm>
            <a:off x="1166069" y="4341858"/>
            <a:ext cx="4286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Outpatient claims make up most records, but inpatient claims are much more expensive and take longer on average.</a:t>
            </a:r>
          </a:p>
        </p:txBody>
      </p:sp>
    </p:spTree>
    <p:extLst>
      <p:ext uri="{BB962C8B-B14F-4D97-AF65-F5344CB8AC3E}">
        <p14:creationId xmlns:p14="http://schemas.microsoft.com/office/powerpoint/2010/main" val="1223093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DAB77-A908-6931-23DA-CEB13006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91C2B-38AC-B9D2-F11D-31BCA22AC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57" y="1800864"/>
            <a:ext cx="4473963" cy="3739896"/>
          </a:xfrm>
        </p:spPr>
        <p:txBody>
          <a:bodyPr>
            <a:normAutofit/>
          </a:bodyPr>
          <a:lstStyle/>
          <a:p>
            <a:r>
              <a:rPr lang="en-US" b="1" dirty="0"/>
              <a:t>Feature Engineering</a:t>
            </a:r>
          </a:p>
          <a:p>
            <a:pPr lvl="1"/>
            <a:r>
              <a:rPr lang="en-US" dirty="0"/>
              <a:t>Data was aggregated at the provider level to construct features that capture billing behaviors and beneficiary characteristics</a:t>
            </a:r>
          </a:p>
          <a:p>
            <a:pPr lvl="1"/>
            <a:r>
              <a:rPr lang="en-US" dirty="0"/>
              <a:t>The provider-level summary features fell under four main groups: Claim Volume, Cost Patterns, Claim Complexity, and Patient Mix</a:t>
            </a:r>
          </a:p>
          <a:p>
            <a:pPr lvl="1"/>
            <a:r>
              <a:rPr lang="en-US" dirty="0"/>
              <a:t>20 final features were used as model inputs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43A90B0-7B6B-065F-5B8E-273E0FE8392D}"/>
              </a:ext>
            </a:extLst>
          </p:cNvPr>
          <p:cNvSpPr txBox="1">
            <a:spLocks/>
          </p:cNvSpPr>
          <p:nvPr/>
        </p:nvSpPr>
        <p:spPr>
          <a:xfrm>
            <a:off x="5223699" y="1357632"/>
            <a:ext cx="66145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FF55664-7EC8-929B-08B6-B310A4683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398305"/>
              </p:ext>
            </p:extLst>
          </p:nvPr>
        </p:nvGraphicFramePr>
        <p:xfrm>
          <a:off x="5528684" y="1800864"/>
          <a:ext cx="5742449" cy="34798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941920">
                  <a:extLst>
                    <a:ext uri="{9D8B030D-6E8A-4147-A177-3AD203B41FA5}">
                      <a16:colId xmlns:a16="http://schemas.microsoft.com/office/drawing/2014/main" val="2299864751"/>
                    </a:ext>
                  </a:extLst>
                </a:gridCol>
                <a:gridCol w="3800529">
                  <a:extLst>
                    <a:ext uri="{9D8B030D-6E8A-4147-A177-3AD203B41FA5}">
                      <a16:colId xmlns:a16="http://schemas.microsoft.com/office/drawing/2014/main" val="2901867904"/>
                    </a:ext>
                  </a:extLst>
                </a:gridCol>
              </a:tblGrid>
              <a:tr h="3244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469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Claim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Claim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070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Cost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Average reimbursement amount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SD reimbursement amount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Average deductible 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30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Claim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Average # of diagnoses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Average claim length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Share with admission diagnosis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83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Patient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Average age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Average # of chronic conditions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Renal disease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040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505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B271E-8CF9-7D45-FE7A-DCF6942B7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9E87-CFE0-6E24-09EA-7FF0AC7A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A209C-FFAD-A0D4-2103-EED86E7D7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19987"/>
            <a:ext cx="6799123" cy="389358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Supervised Models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Logistic Regression (baseline)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Random Forest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Gradient boosting (</a:t>
            </a:r>
            <a:r>
              <a:rPr lang="en-US" dirty="0" err="1"/>
              <a:t>XGBoost</a:t>
            </a:r>
            <a:r>
              <a:rPr lang="en-US" dirty="0"/>
              <a:t>)</a:t>
            </a:r>
          </a:p>
          <a:p>
            <a:r>
              <a:rPr lang="en-US" b="1" dirty="0"/>
              <a:t>Unsupervised Model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Isolation Forest (anomaly detection)</a:t>
            </a:r>
          </a:p>
          <a:p>
            <a:r>
              <a:rPr lang="en-US" dirty="0"/>
              <a:t>Class imbalance was addressed using class weighting/model settings to account for the low number of fraud-labeled providers</a:t>
            </a:r>
          </a:p>
          <a:p>
            <a:r>
              <a:rPr lang="en-US" dirty="0"/>
              <a:t>Model performance was compared using evaluation metrics such as accuracy, precision, recall, F1 score, and ROC-AUC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7E6380-4A4F-0F27-33CB-270511442DED}"/>
              </a:ext>
            </a:extLst>
          </p:cNvPr>
          <p:cNvSpPr txBox="1">
            <a:spLocks/>
          </p:cNvSpPr>
          <p:nvPr/>
        </p:nvSpPr>
        <p:spPr>
          <a:xfrm>
            <a:off x="5223699" y="1357632"/>
            <a:ext cx="66145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6174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1A18F-3136-89B7-3D78-00229707C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2571-2D6F-1907-AE88-B79CE3068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70CA2C-6BD0-A681-0D48-70E2B1D61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188750"/>
              </p:ext>
            </p:extLst>
          </p:nvPr>
        </p:nvGraphicFramePr>
        <p:xfrm>
          <a:off x="800099" y="1738199"/>
          <a:ext cx="10600539" cy="40284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80093">
                  <a:extLst>
                    <a:ext uri="{9D8B030D-6E8A-4147-A177-3AD203B41FA5}">
                      <a16:colId xmlns:a16="http://schemas.microsoft.com/office/drawing/2014/main" val="2128061613"/>
                    </a:ext>
                  </a:extLst>
                </a:gridCol>
                <a:gridCol w="1247182">
                  <a:extLst>
                    <a:ext uri="{9D8B030D-6E8A-4147-A177-3AD203B41FA5}">
                      <a16:colId xmlns:a16="http://schemas.microsoft.com/office/drawing/2014/main" val="683697955"/>
                    </a:ext>
                  </a:extLst>
                </a:gridCol>
                <a:gridCol w="1996577">
                  <a:extLst>
                    <a:ext uri="{9D8B030D-6E8A-4147-A177-3AD203B41FA5}">
                      <a16:colId xmlns:a16="http://schemas.microsoft.com/office/drawing/2014/main" val="1131385291"/>
                    </a:ext>
                  </a:extLst>
                </a:gridCol>
                <a:gridCol w="2338260">
                  <a:extLst>
                    <a:ext uri="{9D8B030D-6E8A-4147-A177-3AD203B41FA5}">
                      <a16:colId xmlns:a16="http://schemas.microsoft.com/office/drawing/2014/main" val="1769596832"/>
                    </a:ext>
                  </a:extLst>
                </a:gridCol>
                <a:gridCol w="1892042">
                  <a:extLst>
                    <a:ext uri="{9D8B030D-6E8A-4147-A177-3AD203B41FA5}">
                      <a16:colId xmlns:a16="http://schemas.microsoft.com/office/drawing/2014/main" val="1735278781"/>
                    </a:ext>
                  </a:extLst>
                </a:gridCol>
                <a:gridCol w="1346385">
                  <a:extLst>
                    <a:ext uri="{9D8B030D-6E8A-4147-A177-3AD203B41FA5}">
                      <a16:colId xmlns:a16="http://schemas.microsoft.com/office/drawing/2014/main" val="15498877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ROC 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15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Logistic Regression</a:t>
                      </a:r>
                    </a:p>
                    <a:p>
                      <a:pPr algn="ctr"/>
                      <a:r>
                        <a:rPr lang="en-US" dirty="0"/>
                        <a:t>(threshold: 0.7)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Non-Fraud: 0.98</a:t>
                      </a:r>
                    </a:p>
                    <a:p>
                      <a:pPr algn="ctr"/>
                      <a:r>
                        <a:rPr lang="en-US" dirty="0"/>
                        <a:t>Fraud: 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Non-Fraud: 0.93</a:t>
                      </a:r>
                    </a:p>
                    <a:p>
                      <a:pPr algn="ctr"/>
                      <a:r>
                        <a:rPr lang="en-US" dirty="0"/>
                        <a:t>Fraud: 0.79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Non-Fraud: 0.95</a:t>
                      </a:r>
                    </a:p>
                    <a:p>
                      <a:pPr algn="ctr"/>
                      <a:r>
                        <a:rPr lang="en-US" dirty="0"/>
                        <a:t>Fraud: 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477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0.94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Non-Fraud: 0.96</a:t>
                      </a:r>
                    </a:p>
                    <a:p>
                      <a:pPr algn="ctr"/>
                      <a:r>
                        <a:rPr lang="en-US" dirty="0"/>
                        <a:t>Fraud: 0.71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Non-Fraud: 0.97</a:t>
                      </a:r>
                    </a:p>
                    <a:p>
                      <a:pPr algn="ctr"/>
                      <a:r>
                        <a:rPr lang="en-US" dirty="0"/>
                        <a:t>Fraud: 0.61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Non-Fraud: 0.97</a:t>
                      </a:r>
                    </a:p>
                    <a:p>
                      <a:pPr algn="ctr"/>
                      <a:r>
                        <a:rPr lang="en-US" dirty="0"/>
                        <a:t>Fraud: 0.66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940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XGBoost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Non-Fraud: 0.98</a:t>
                      </a:r>
                    </a:p>
                    <a:p>
                      <a:pPr algn="ctr"/>
                      <a:r>
                        <a:rPr lang="en-US" dirty="0"/>
                        <a:t>Fraud: 0.55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Non-Fraud: 0.94</a:t>
                      </a:r>
                    </a:p>
                    <a:p>
                      <a:pPr algn="ctr"/>
                      <a:r>
                        <a:rPr lang="en-US" dirty="0"/>
                        <a:t>Fraud: 0.77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Non-Fraud: 0.96</a:t>
                      </a:r>
                    </a:p>
                    <a:p>
                      <a:pPr algn="ctr"/>
                      <a:r>
                        <a:rPr lang="en-US" dirty="0"/>
                        <a:t>Fraud: 0.64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46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Isolation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0.83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Non-Fraud: 0.93</a:t>
                      </a:r>
                    </a:p>
                    <a:p>
                      <a:pPr algn="ctr"/>
                      <a:r>
                        <a:rPr lang="en-US" dirty="0"/>
                        <a:t>Fraud: 0.22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Non-Fraud: 0.89</a:t>
                      </a:r>
                    </a:p>
                    <a:p>
                      <a:pPr algn="ctr"/>
                      <a:r>
                        <a:rPr lang="en-US" dirty="0"/>
                        <a:t>Fraud: 0.32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Non-Fraud: 0.91</a:t>
                      </a:r>
                    </a:p>
                    <a:p>
                      <a:pPr algn="ctr"/>
                      <a:r>
                        <a:rPr lang="en-US" dirty="0"/>
                        <a:t>Fraud: 0.26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96439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31CD1EA-B15A-0D7E-F114-03A197F020A2}"/>
              </a:ext>
            </a:extLst>
          </p:cNvPr>
          <p:cNvSpPr txBox="1"/>
          <p:nvPr/>
        </p:nvSpPr>
        <p:spPr>
          <a:xfrm>
            <a:off x="3048699" y="1383530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Validation Set Metrics (Training metrics in paper)</a:t>
            </a:r>
          </a:p>
        </p:txBody>
      </p:sp>
    </p:spTree>
    <p:extLst>
      <p:ext uri="{BB962C8B-B14F-4D97-AF65-F5344CB8AC3E}">
        <p14:creationId xmlns:p14="http://schemas.microsoft.com/office/powerpoint/2010/main" val="1057352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53CD5-243D-BD14-37B4-2BAACB5F1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4A43-CB53-E9AF-E0F5-0B1F15B4E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FACB54-CC51-AF4B-DF7B-3128CABE9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77" y="1652631"/>
            <a:ext cx="5417890" cy="4290969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A1C7AD5-37E9-6870-2189-6346322F5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999177"/>
              </p:ext>
            </p:extLst>
          </p:nvPr>
        </p:nvGraphicFramePr>
        <p:xfrm>
          <a:off x="6297937" y="2221992"/>
          <a:ext cx="5517355" cy="30327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569374">
                  <a:extLst>
                    <a:ext uri="{9D8B030D-6E8A-4147-A177-3AD203B41FA5}">
                      <a16:colId xmlns:a16="http://schemas.microsoft.com/office/drawing/2014/main" val="2299864751"/>
                    </a:ext>
                  </a:extLst>
                </a:gridCol>
                <a:gridCol w="1299014">
                  <a:extLst>
                    <a:ext uri="{9D8B030D-6E8A-4147-A177-3AD203B41FA5}">
                      <a16:colId xmlns:a16="http://schemas.microsoft.com/office/drawing/2014/main" val="2901867904"/>
                    </a:ext>
                  </a:extLst>
                </a:gridCol>
                <a:gridCol w="1648967">
                  <a:extLst>
                    <a:ext uri="{9D8B030D-6E8A-4147-A177-3AD203B41FA5}">
                      <a16:colId xmlns:a16="http://schemas.microsoft.com/office/drawing/2014/main" val="3743972088"/>
                    </a:ext>
                  </a:extLst>
                </a:gridCol>
              </a:tblGrid>
              <a:tr h="2868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469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Inpatient Claim 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070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SD Claim Reimbursement Amt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30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Outpatient Claim 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83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 Claim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04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 Claim Reimbursement Amt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9291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80C2F46-9D47-FA64-4636-A5DFFF1FA84A}"/>
              </a:ext>
            </a:extLst>
          </p:cNvPr>
          <p:cNvSpPr txBox="1"/>
          <p:nvPr/>
        </p:nvSpPr>
        <p:spPr>
          <a:xfrm>
            <a:off x="7127247" y="1450750"/>
            <a:ext cx="3686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dirty="0"/>
              <a:t>Feature Importance for Random Forest + </a:t>
            </a:r>
            <a:r>
              <a:rPr lang="en-US" dirty="0" err="1"/>
              <a:t>XGBoost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418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15D4F-338D-3CCB-979C-456AA824D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6DAB2-C009-AC7B-AA10-BBD9C0554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612FE-EA15-9302-E321-9DD3AC3E2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Takeaways</a:t>
            </a:r>
          </a:p>
          <a:p>
            <a:pPr lvl="1"/>
            <a:r>
              <a:rPr lang="en-US" dirty="0"/>
              <a:t>Provider-level claim patterns </a:t>
            </a:r>
            <a:r>
              <a:rPr lang="en-US" u="sng" dirty="0"/>
              <a:t>can</a:t>
            </a:r>
            <a:r>
              <a:rPr lang="en-US" dirty="0"/>
              <a:t> meaningfully predict potential Medicare fraud</a:t>
            </a:r>
          </a:p>
          <a:p>
            <a:pPr lvl="1"/>
            <a:r>
              <a:rPr lang="en-US" dirty="0"/>
              <a:t>Random Forest was the strongest overall model, balancing accuracy, precision, recall and ROC AUC</a:t>
            </a:r>
          </a:p>
          <a:p>
            <a:pPr lvl="1"/>
            <a:r>
              <a:rPr lang="en-US" dirty="0"/>
              <a:t>Logistic Regression and </a:t>
            </a:r>
            <a:r>
              <a:rPr lang="en-US" dirty="0" err="1"/>
              <a:t>XGBoost</a:t>
            </a:r>
            <a:r>
              <a:rPr lang="en-US" dirty="0"/>
              <a:t> caught more fraudulent providers, </a:t>
            </a:r>
            <a:r>
              <a:rPr lang="en-US" u="sng" dirty="0"/>
              <a:t>but</a:t>
            </a:r>
            <a:r>
              <a:rPr lang="en-US" dirty="0"/>
              <a:t> created more false positives</a:t>
            </a:r>
          </a:p>
          <a:p>
            <a:pPr lvl="1"/>
            <a:r>
              <a:rPr lang="en-US" dirty="0"/>
              <a:t>Supervised learning methods substantially outperformed Isolation Forest, an unsupervised approach</a:t>
            </a:r>
          </a:p>
          <a:p>
            <a:pPr lvl="2"/>
            <a:r>
              <a:rPr lang="en-US" dirty="0"/>
              <a:t>This connects back to </a:t>
            </a:r>
            <a:r>
              <a:rPr lang="en-US" dirty="0">
                <a:hlinkClick r:id="rId2"/>
              </a:rPr>
              <a:t>Bauder &amp; Khoshgoftaar (2017)</a:t>
            </a:r>
            <a:r>
              <a:rPr lang="en-US" dirty="0"/>
              <a:t>’s research, who found that supervised methods consistently outperformed unsupervised and hybrid ML approaches</a:t>
            </a:r>
          </a:p>
          <a:p>
            <a:pPr lvl="1"/>
            <a:r>
              <a:rPr lang="en-US" dirty="0"/>
              <a:t>The best model choice depends on your priorities – do you want to maximize fraud detection or minimize false alarms?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02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3E1E-9F09-52CE-229B-54CA26D0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1B90-3C64-FDF6-B4F0-952D481D1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Bauder, R. A., &amp; </a:t>
            </a:r>
            <a:r>
              <a:rPr lang="en-US" dirty="0" err="1"/>
              <a:t>Khoshgoftaar</a:t>
            </a:r>
            <a:r>
              <a:rPr lang="en-US" dirty="0"/>
              <a:t>, T. M. (2017). Medicare fraud detection using machine learning methods. In </a:t>
            </a:r>
            <a:r>
              <a:rPr lang="en-US" i="1" dirty="0"/>
              <a:t>Proceedings of the 16th IEEE International Conference on Machine Learning and Applications (ICMLA)</a:t>
            </a:r>
            <a:r>
              <a:rPr lang="en-US" dirty="0"/>
              <a:t> (pp. 858–865). </a:t>
            </a:r>
            <a:r>
              <a:rPr lang="en-US" u="sng" dirty="0">
                <a:hlinkClick r:id="rId2"/>
              </a:rPr>
              <a:t>https://doi.org/10.1109/ICMLA.2017.00-48</a:t>
            </a:r>
            <a:endParaRPr lang="en-US" dirty="0"/>
          </a:p>
          <a:p>
            <a:r>
              <a:rPr lang="en-US" dirty="0"/>
              <a:t>Federal Bureau of Investigation (FBI). </a:t>
            </a:r>
            <a:r>
              <a:rPr lang="en-US" i="1" dirty="0"/>
              <a:t>Health Care Fraud</a:t>
            </a:r>
            <a:r>
              <a:rPr lang="en-US" dirty="0"/>
              <a:t>. (2026). </a:t>
            </a:r>
            <a:r>
              <a:rPr lang="en-US" u="sng" dirty="0">
                <a:hlinkClick r:id="rId3"/>
              </a:rPr>
              <a:t>https://www.fbi.gov/investigate/white-collar-crime/health-care-fraud</a:t>
            </a:r>
            <a:endParaRPr lang="en-US" dirty="0"/>
          </a:p>
          <a:p>
            <a:r>
              <a:rPr lang="en-US" dirty="0"/>
              <a:t>Gupta, R. A. (2019, May 9). </a:t>
            </a:r>
            <a:r>
              <a:rPr lang="en-US" i="1" dirty="0"/>
              <a:t>Healthcare Provider Fraud Detection Analysis</a:t>
            </a:r>
            <a:r>
              <a:rPr lang="en-US" dirty="0"/>
              <a:t>. Kaggle. https://</a:t>
            </a:r>
            <a:r>
              <a:rPr lang="en-US" dirty="0" err="1"/>
              <a:t>www.kaggle.com</a:t>
            </a:r>
            <a:r>
              <a:rPr lang="en-US" dirty="0"/>
              <a:t>/datasets/</a:t>
            </a:r>
            <a:r>
              <a:rPr lang="en-US" dirty="0" err="1"/>
              <a:t>rohitrox</a:t>
            </a:r>
            <a:r>
              <a:rPr lang="en-US" dirty="0"/>
              <a:t>/healthcare-provider-fraud-detection-analysis </a:t>
            </a:r>
          </a:p>
          <a:p>
            <a:r>
              <a:rPr lang="en-US" dirty="0"/>
              <a:t>Johnson, J. M., &amp; </a:t>
            </a:r>
            <a:r>
              <a:rPr lang="en-US" dirty="0" err="1"/>
              <a:t>Khoshgoftaar</a:t>
            </a:r>
            <a:r>
              <a:rPr lang="en-US" dirty="0"/>
              <a:t>, T. M. (2019). Medicare fraud detection using neural networks. </a:t>
            </a:r>
            <a:r>
              <a:rPr lang="en-US" i="1" dirty="0"/>
              <a:t>Journal of Big Data, 6</a:t>
            </a:r>
            <a:r>
              <a:rPr lang="en-US" dirty="0"/>
              <a:t>(1), 63. </a:t>
            </a:r>
            <a:r>
              <a:rPr lang="en-US" u="sng" dirty="0">
                <a:hlinkClick r:id="rId4"/>
              </a:rPr>
              <a:t>https://doi.org/10.1186/s40537-019-0225-0</a:t>
            </a:r>
            <a:endParaRPr lang="en-US" dirty="0"/>
          </a:p>
          <a:p>
            <a:r>
              <a:rPr lang="en-US" dirty="0"/>
              <a:t>Yoo, Y., Shin, J., &amp; Kyeong, S. (2023). Medicare fraud detection using graph analysis: A comparative study of machine learning and graph neural networks. </a:t>
            </a:r>
            <a:r>
              <a:rPr lang="en-US" i="1" dirty="0"/>
              <a:t>IEEE Access, 11</a:t>
            </a:r>
            <a:r>
              <a:rPr lang="en-US" dirty="0"/>
              <a:t>, 88278–88294. </a:t>
            </a:r>
            <a:r>
              <a:rPr lang="en-US" u="sng" dirty="0">
                <a:hlinkClick r:id="rId5"/>
              </a:rPr>
              <a:t>https://doi.org/10.1109/ACCESS.2023.3305962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32124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2439</TotalTime>
  <Words>1050</Words>
  <Application>Microsoft Macintosh PowerPoint</Application>
  <PresentationFormat>Widescreen</PresentationFormat>
  <Paragraphs>189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Calisto MT</vt:lpstr>
      <vt:lpstr>Univers Condensed</vt:lpstr>
      <vt:lpstr>ChronicleVTI</vt:lpstr>
      <vt:lpstr>healthcare provider fraud prediction</vt:lpstr>
      <vt:lpstr>problem</vt:lpstr>
      <vt:lpstr>Past Medicare fraud detection work</vt:lpstr>
      <vt:lpstr>dataset</vt:lpstr>
      <vt:lpstr>Tools</vt:lpstr>
      <vt:lpstr>Exploratory data analysis</vt:lpstr>
      <vt:lpstr>Exploratory data analysis</vt:lpstr>
      <vt:lpstr>Feature selection</vt:lpstr>
      <vt:lpstr>APPROACH</vt:lpstr>
      <vt:lpstr>Results</vt:lpstr>
      <vt:lpstr>Results</vt:lpstr>
      <vt:lpstr>Project outcome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Meyer, Elizabeth</dc:creator>
  <cp:lastModifiedBy>Meyer, Elizabeth</cp:lastModifiedBy>
  <cp:revision>12</cp:revision>
  <dcterms:created xsi:type="dcterms:W3CDTF">2026-02-24T02:40:22Z</dcterms:created>
  <dcterms:modified xsi:type="dcterms:W3CDTF">2026-05-01T01:58:31Z</dcterms:modified>
</cp:coreProperties>
</file>